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tiff" ContentType="image/tiff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9"/>
  </p:notesMasterIdLst>
  <p:sldIdLst>
    <p:sldId id="279" r:id="rId2"/>
    <p:sldId id="285" r:id="rId3"/>
    <p:sldId id="287" r:id="rId4"/>
    <p:sldId id="282" r:id="rId5"/>
    <p:sldId id="266" r:id="rId6"/>
    <p:sldId id="280" r:id="rId7"/>
    <p:sldId id="281" r:id="rId8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808080"/>
    <a:srgbClr val="00FA00"/>
    <a:srgbClr val="FFFFFF"/>
    <a:srgbClr val="00CD00"/>
    <a:srgbClr val="00CCCC"/>
    <a:srgbClr val="FFFF99"/>
    <a:srgbClr val="FFA9DF"/>
    <a:srgbClr val="A7FFEA"/>
    <a:srgbClr val="7AFFE1"/>
    <a:srgbClr val="CA90C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5854"/>
    <p:restoredTop sz="94618"/>
  </p:normalViewPr>
  <p:slideViewPr>
    <p:cSldViewPr snapToGrid="0" snapToObjects="1">
      <p:cViewPr>
        <p:scale>
          <a:sx n="98" d="100"/>
          <a:sy n="98" d="100"/>
        </p:scale>
        <p:origin x="1672" y="328"/>
      </p:cViewPr>
      <p:guideLst/>
    </p:cSldViewPr>
  </p:slideViewPr>
  <p:notesTextViewPr>
    <p:cViewPr>
      <p:scale>
        <a:sx n="20" d="100"/>
        <a:sy n="2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286492A-2CA2-E643-8AA6-7A3DBD9E2B39}" type="datetimeFigureOut">
              <a:rPr lang="en-US" smtClean="0"/>
              <a:t>7/13/22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76B060D-D020-B54C-829E-DB3A4113A29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8348009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76B060D-D020-B54C-829E-DB3A4113A29E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8698444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76B060D-D020-B54C-829E-DB3A4113A29E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6819444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76B060D-D020-B54C-829E-DB3A4113A29E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178894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76B060D-D020-B54C-829E-DB3A4113A29E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12244956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76B060D-D020-B54C-829E-DB3A4113A29E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57249076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76B060D-D020-B54C-829E-DB3A4113A29E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29410065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76B060D-D020-B54C-829E-DB3A4113A29E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1889778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72637D8-66F5-C247-80F9-1F4F7ADB99B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B32AD74-3C9B-414A-9C3C-0FF950A65C6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5EB94B2-0CEB-514A-8704-081AF482C75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5230AD-8316-4848-86F6-EF97FAB217B6}" type="datetimeFigureOut">
              <a:rPr lang="en-US" smtClean="0"/>
              <a:t>7/13/22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D1126C4-42AB-394B-AE66-EB5E35AD8AE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43EC074-D5BA-3F40-A694-68FBFB0E50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A06915-0779-1F46-A94F-70F9DB729AA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3167504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CACF1B-DD55-C942-9802-8B9AC347BA6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63BE7C8-FB1D-8249-828B-01B44C85B88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E415D62-B073-7343-A1AE-93C5BFAFA6F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5230AD-8316-4848-86F6-EF97FAB217B6}" type="datetimeFigureOut">
              <a:rPr lang="en-US" smtClean="0"/>
              <a:t>7/13/22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7579AD4-BC1E-4F45-BA5A-AAFE573CAEE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632E9F3-3376-EA40-95B3-9C5CD72C3B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A06915-0779-1F46-A94F-70F9DB729AA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5975299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1CBF26-D1EA-5F4F-B770-999D72828DF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3B16BA8-C34E-B84F-9BC1-0C925AB86C2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430624B-E230-B049-971A-4AD1A3D1829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5230AD-8316-4848-86F6-EF97FAB217B6}" type="datetimeFigureOut">
              <a:rPr lang="en-US" smtClean="0"/>
              <a:t>7/13/22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6B248EB-9420-7E40-AE43-7FF74CD7B1C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AD74830-33FF-2646-AB7A-693C527588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A06915-0779-1F46-A94F-70F9DB729AA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9998961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48309B-727E-194D-9639-A0A4247D26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7E9FDD6-37DD-3044-B6C3-1766546A0BF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8676A04-9E0B-FD43-93EF-217F94996BC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FBC811F-7C84-4F40-9C57-28298492F26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5230AD-8316-4848-86F6-EF97FAB217B6}" type="datetimeFigureOut">
              <a:rPr lang="en-US" smtClean="0"/>
              <a:t>7/13/22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13F5D38-0844-0847-86C2-80E2389AAE5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228376E-79D2-914B-9F81-41DB014845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A06915-0779-1F46-A94F-70F9DB729AA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9092640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66D858F-2E14-9546-AD83-A97BF05B783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59110BA-4A50-F44B-9F12-48F7E221CF5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06DF8ED-889D-6749-84F4-D4CA33FD5F1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2E39825-6E6F-A44A-BD33-E88734524D2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E31A7828-F377-C444-8F70-1723633AB29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5E5E6CD2-3D9D-E842-8F52-CB929A5AF0D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5230AD-8316-4848-86F6-EF97FAB217B6}" type="datetimeFigureOut">
              <a:rPr lang="en-US" smtClean="0"/>
              <a:t>7/13/22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BCC631CE-B1BC-B64C-8DB6-35617241AF0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5999ED6E-68B5-CE48-AD00-3692CAC752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A06915-0779-1F46-A94F-70F9DB729AA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815467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388664B-1287-F94A-BB22-A8CA60792C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9A88CE2-6C0C-4749-ADB9-C6FACA8DE0E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5230AD-8316-4848-86F6-EF97FAB217B6}" type="datetimeFigureOut">
              <a:rPr lang="en-US" smtClean="0"/>
              <a:t>7/13/22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4446EFE-9EA8-2240-A4E6-20F0403BC6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89103C8-E264-8848-B850-A0449F007EE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A06915-0779-1F46-A94F-70F9DB729AA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5540950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AC679B0F-F05F-A549-BD87-57A8F545F6A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5230AD-8316-4848-86F6-EF97FAB217B6}" type="datetimeFigureOut">
              <a:rPr lang="en-US" smtClean="0"/>
              <a:t>7/13/22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8D2053F8-E8D3-4F45-BEF2-1E63DE67E1F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7FEA1F6-720B-D24B-9FBF-1AF9FA760B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A06915-0779-1F46-A94F-70F9DB729AA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3090839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57AED50-D677-5F4E-9FD1-57005FDF4F4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5A68E7D-33D5-A643-8F3F-3DE017BAAD7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C600E24-616B-4041-A2D9-FA2A6F78B42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E387BCC-587C-CB42-9799-529BA5DD8D6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5230AD-8316-4848-86F6-EF97FAB217B6}" type="datetimeFigureOut">
              <a:rPr lang="en-US" smtClean="0"/>
              <a:t>7/13/22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9A608AC-136F-0745-B383-7FE39E2B884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1D96367-E460-A644-91E5-5504B3B356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A06915-0779-1F46-A94F-70F9DB729AA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013722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1F7965-1F8C-924C-BAA9-ED7F1CE06DE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135071FA-BD8B-7143-8D47-D6119A91728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6B7AE25-D2CA-C64C-8DC5-50DA8C4B2D7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45FFCA0-9DF5-E040-B517-5AE6A48C50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5230AD-8316-4848-86F6-EF97FAB217B6}" type="datetimeFigureOut">
              <a:rPr lang="en-US" smtClean="0"/>
              <a:t>7/13/22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D8C490F-7943-204B-AD72-7AC806AE63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F8D1AEF-6F85-FF41-A3AD-331BC76B28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A06915-0779-1F46-A94F-70F9DB729AA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4429448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6D2FCC-9C07-684B-9280-E6126DD5D0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474015F-8B7A-7848-8A8D-DFDCB536115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0C63C72-C28F-EC47-8002-94E4BF5D5A5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5230AD-8316-4848-86F6-EF97FAB217B6}" type="datetimeFigureOut">
              <a:rPr lang="en-US" smtClean="0"/>
              <a:t>7/13/22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47A7D6E-C823-0D4A-8C85-AACCAB435C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7B68258-BFA7-5141-A258-B48C1BF222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A06915-0779-1F46-A94F-70F9DB729AA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5084160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333DE96F-680F-E141-A849-FB5D4A2648FD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B59185D-029F-0C4C-BC37-9443F85D836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973A62C-1711-AC41-9B0A-61B65831895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5230AD-8316-4848-86F6-EF97FAB217B6}" type="datetimeFigureOut">
              <a:rPr lang="en-US" smtClean="0"/>
              <a:t>7/13/22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C9CCD9A-237F-2E46-A22B-A145EF0FCB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387DBDC-D801-744C-B9D7-A829F2DD61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A06915-0779-1F46-A94F-70F9DB729AA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869496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5FBAC297-F7BD-A348-BC5F-84DEC90D924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BDA16EF-872D-CC4E-93DF-97D4A835D01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D67A77-59DE-2A43-A6AF-BEEDDD8ECD6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A5230AD-8316-4848-86F6-EF97FAB217B6}" type="datetimeFigureOut">
              <a:rPr lang="en-US" smtClean="0"/>
              <a:t>7/13/22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16ACB63-1246-9343-B549-8BAA5FC2A70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8C3C0F5-22F5-0447-905D-54F390BA4CD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9A06915-0779-1F46-A94F-70F9DB729AA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730375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tiff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tiff"/><Relationship Id="rId5" Type="http://schemas.openxmlformats.org/officeDocument/2006/relationships/image" Target="../media/image3.png"/><Relationship Id="rId4" Type="http://schemas.openxmlformats.org/officeDocument/2006/relationships/image" Target="../media/image2.tiff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tiff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tiff"/><Relationship Id="rId5" Type="http://schemas.openxmlformats.org/officeDocument/2006/relationships/image" Target="../media/image1.tiff"/><Relationship Id="rId4" Type="http://schemas.openxmlformats.org/officeDocument/2006/relationships/image" Target="../media/image3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01836649-3BFB-BC41-8DB9-D358D1B458BD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80808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algn="ctr" defTabSz="914400" rtl="0" eaLnBrk="1" latinLnBrk="0" hangingPunct="1"/>
            <a:endParaRPr lang="en-US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1FF0DAA0-A0FD-6A46-9490-CA00AB61643F}"/>
              </a:ext>
            </a:extLst>
          </p:cNvPr>
          <p:cNvSpPr/>
          <p:nvPr/>
        </p:nvSpPr>
        <p:spPr>
          <a:xfrm>
            <a:off x="650009" y="654162"/>
            <a:ext cx="11146420" cy="203132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Welcome to the experiment!</a:t>
            </a:r>
          </a:p>
          <a:p>
            <a:pPr algn="ctr"/>
            <a:endParaRPr lang="en-US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r>
              <a:rPr lang="en-US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In this experiment, we will show you pairs of images presented one after the other. </a:t>
            </a:r>
          </a:p>
          <a:p>
            <a:pPr algn="ctr"/>
            <a:r>
              <a:rPr lang="en-US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Your task is to decide which one is the Correct one. </a:t>
            </a:r>
          </a:p>
          <a:p>
            <a:pPr algn="ctr"/>
            <a:endParaRPr lang="en-US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r>
              <a:rPr lang="en-US" dirty="0">
                <a:solidFill>
                  <a:srgbClr val="80808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The two images will appear one after the other.</a:t>
            </a:r>
          </a:p>
          <a:p>
            <a:pPr algn="ctr"/>
            <a:r>
              <a:rPr lang="en-US" dirty="0">
                <a:solidFill>
                  <a:srgbClr val="80808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When you see a ”+” sign on the screen, you may enter either the “D” or “K” keys to make a decision.</a:t>
            </a:r>
          </a:p>
        </p:txBody>
      </p:sp>
    </p:spTree>
    <p:extLst>
      <p:ext uri="{BB962C8B-B14F-4D97-AF65-F5344CB8AC3E}">
        <p14:creationId xmlns:p14="http://schemas.microsoft.com/office/powerpoint/2010/main" val="42526201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01836649-3BFB-BC41-8DB9-D358D1B458BD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80808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algn="ctr" defTabSz="914400" rtl="0" eaLnBrk="1" latinLnBrk="0" hangingPunct="1"/>
            <a:endParaRPr lang="en-US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1FF0DAA0-A0FD-6A46-9490-CA00AB61643F}"/>
              </a:ext>
            </a:extLst>
          </p:cNvPr>
          <p:cNvSpPr/>
          <p:nvPr/>
        </p:nvSpPr>
        <p:spPr>
          <a:xfrm>
            <a:off x="650009" y="654162"/>
            <a:ext cx="11146420" cy="258532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Welcome to the experiment!</a:t>
            </a:r>
          </a:p>
          <a:p>
            <a:pPr algn="ctr"/>
            <a:endParaRPr lang="en-US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r>
              <a:rPr lang="en-US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In this experiment, we will show you pairs of images presented one after the other. </a:t>
            </a:r>
          </a:p>
          <a:p>
            <a:pPr algn="ctr"/>
            <a:endParaRPr lang="en-US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r>
              <a:rPr lang="en-US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Two images will appear one after the other, with a “+” in between.</a:t>
            </a:r>
          </a:p>
          <a:p>
            <a:pPr algn="ctr"/>
            <a:r>
              <a:rPr lang="en-US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When you see the prompt “MAKE A CHOICE”, you may enter either the “D” or “K” keys to make a decision.</a:t>
            </a:r>
          </a:p>
          <a:p>
            <a:pPr algn="ctr"/>
            <a:endParaRPr lang="en-US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r>
              <a:rPr lang="en-US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You will learn how to choose “D” vs. “K” correctly on your own</a:t>
            </a:r>
          </a:p>
          <a:p>
            <a:pPr algn="ctr"/>
            <a:endParaRPr lang="en-US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E4D16A73-0858-319F-16EF-D555589794DF}"/>
              </a:ext>
            </a:extLst>
          </p:cNvPr>
          <p:cNvSpPr/>
          <p:nvPr/>
        </p:nvSpPr>
        <p:spPr>
          <a:xfrm>
            <a:off x="3550925" y="3212822"/>
            <a:ext cx="2365960" cy="1879430"/>
          </a:xfrm>
          <a:prstGeom prst="rect">
            <a:avLst/>
          </a:prstGeom>
          <a:solidFill>
            <a:srgbClr val="808080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algn="ctr" defTabSz="914400" rtl="0" eaLnBrk="1" latinLnBrk="0" hangingPunct="1"/>
            <a:endParaRPr lang="en-US"/>
          </a:p>
        </p:txBody>
      </p: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636381C2-DE22-C720-C04D-7F6C724F9C75}"/>
              </a:ext>
            </a:extLst>
          </p:cNvPr>
          <p:cNvCxnSpPr>
            <a:cxnSpLocks/>
          </p:cNvCxnSpPr>
          <p:nvPr/>
        </p:nvCxnSpPr>
        <p:spPr>
          <a:xfrm>
            <a:off x="5933354" y="4142568"/>
            <a:ext cx="274320" cy="0"/>
          </a:xfrm>
          <a:prstGeom prst="straightConnector1">
            <a:avLst/>
          </a:prstGeom>
          <a:ln w="571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Rectangle 29">
            <a:extLst>
              <a:ext uri="{FF2B5EF4-FFF2-40B4-BE49-F238E27FC236}">
                <a16:creationId xmlns:a16="http://schemas.microsoft.com/office/drawing/2014/main" id="{5F7DA9A9-7BB2-1C07-C53F-35537DC78A3F}"/>
              </a:ext>
            </a:extLst>
          </p:cNvPr>
          <p:cNvSpPr/>
          <p:nvPr/>
        </p:nvSpPr>
        <p:spPr>
          <a:xfrm>
            <a:off x="6224143" y="3212822"/>
            <a:ext cx="2365960" cy="1879430"/>
          </a:xfrm>
          <a:prstGeom prst="rect">
            <a:avLst/>
          </a:prstGeom>
          <a:solidFill>
            <a:srgbClr val="808080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algn="ctr" defTabSz="914400" rtl="0" eaLnBrk="1" latinLnBrk="0" hangingPunct="1"/>
            <a:endParaRPr lang="en-US"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20ACA483-BA3C-3519-D40C-70BCD9149BE4}"/>
              </a:ext>
            </a:extLst>
          </p:cNvPr>
          <p:cNvSpPr/>
          <p:nvPr/>
        </p:nvSpPr>
        <p:spPr>
          <a:xfrm>
            <a:off x="6876363" y="3611776"/>
            <a:ext cx="1097280" cy="1097280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4" name="Picture 33">
            <a:extLst>
              <a:ext uri="{FF2B5EF4-FFF2-40B4-BE49-F238E27FC236}">
                <a16:creationId xmlns:a16="http://schemas.microsoft.com/office/drawing/2014/main" id="{EF67E4BC-C004-405E-567C-FE609CFD563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72173" y="3703216"/>
            <a:ext cx="914400" cy="914400"/>
          </a:xfrm>
          <a:prstGeom prst="rect">
            <a:avLst/>
          </a:prstGeom>
        </p:spPr>
      </p:pic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543F9DB2-9B7C-7548-33C2-FF418CE3D7A3}"/>
              </a:ext>
            </a:extLst>
          </p:cNvPr>
          <p:cNvCxnSpPr>
            <a:cxnSpLocks/>
          </p:cNvCxnSpPr>
          <p:nvPr/>
        </p:nvCxnSpPr>
        <p:spPr>
          <a:xfrm>
            <a:off x="8593509" y="4142568"/>
            <a:ext cx="274320" cy="0"/>
          </a:xfrm>
          <a:prstGeom prst="straightConnector1">
            <a:avLst/>
          </a:prstGeom>
          <a:ln w="571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" name="Rectangle 35">
            <a:extLst>
              <a:ext uri="{FF2B5EF4-FFF2-40B4-BE49-F238E27FC236}">
                <a16:creationId xmlns:a16="http://schemas.microsoft.com/office/drawing/2014/main" id="{BCFF8C52-8001-D7E2-CFDA-FDEDA2BB52D9}"/>
              </a:ext>
            </a:extLst>
          </p:cNvPr>
          <p:cNvSpPr/>
          <p:nvPr/>
        </p:nvSpPr>
        <p:spPr>
          <a:xfrm>
            <a:off x="8884298" y="3212822"/>
            <a:ext cx="2365960" cy="1879430"/>
          </a:xfrm>
          <a:prstGeom prst="rect">
            <a:avLst/>
          </a:prstGeom>
          <a:solidFill>
            <a:srgbClr val="808080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algn="ctr" defTabSz="914400" rtl="0" eaLnBrk="1" latinLnBrk="0" hangingPunct="1"/>
            <a:endParaRPr lang="en-US"/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2A922271-49FC-7B29-0FE4-824062DB6692}"/>
              </a:ext>
            </a:extLst>
          </p:cNvPr>
          <p:cNvSpPr/>
          <p:nvPr/>
        </p:nvSpPr>
        <p:spPr>
          <a:xfrm>
            <a:off x="9162024" y="3985770"/>
            <a:ext cx="1848900" cy="3231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sz="15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MAKE A CHOICE</a:t>
            </a:r>
          </a:p>
        </p:txBody>
      </p:sp>
      <p:grpSp>
        <p:nvGrpSpPr>
          <p:cNvPr id="42" name="Group 41">
            <a:extLst>
              <a:ext uri="{FF2B5EF4-FFF2-40B4-BE49-F238E27FC236}">
                <a16:creationId xmlns:a16="http://schemas.microsoft.com/office/drawing/2014/main" id="{9552A3E0-0685-3187-D7F1-0D0C1E0AC42E}"/>
              </a:ext>
            </a:extLst>
          </p:cNvPr>
          <p:cNvGrpSpPr>
            <a:grpSpLocks noChangeAspect="1"/>
          </p:cNvGrpSpPr>
          <p:nvPr/>
        </p:nvGrpSpPr>
        <p:grpSpPr>
          <a:xfrm>
            <a:off x="9123629" y="5219680"/>
            <a:ext cx="1887295" cy="1097280"/>
            <a:chOff x="4543496" y="2244478"/>
            <a:chExt cx="3308070" cy="1923324"/>
          </a:xfrm>
        </p:grpSpPr>
        <p:pic>
          <p:nvPicPr>
            <p:cNvPr id="39" name="Picture 38">
              <a:extLst>
                <a:ext uri="{FF2B5EF4-FFF2-40B4-BE49-F238E27FC236}">
                  <a16:creationId xmlns:a16="http://schemas.microsoft.com/office/drawing/2014/main" id="{6297DC30-6729-EA39-22C0-25A23F3F06EB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4543496" y="2244478"/>
              <a:ext cx="3308070" cy="1654035"/>
            </a:xfrm>
            <a:prstGeom prst="rect">
              <a:avLst/>
            </a:prstGeom>
          </p:spPr>
        </p:pic>
        <p:pic>
          <p:nvPicPr>
            <p:cNvPr id="40" name="Picture 39">
              <a:extLst>
                <a:ext uri="{FF2B5EF4-FFF2-40B4-BE49-F238E27FC236}">
                  <a16:creationId xmlns:a16="http://schemas.microsoft.com/office/drawing/2014/main" id="{177A0C27-FA59-400D-F155-21D07F0C4D97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6229508" y="3126098"/>
              <a:ext cx="562940" cy="1017506"/>
            </a:xfrm>
            <a:prstGeom prst="rect">
              <a:avLst/>
            </a:prstGeom>
          </p:spPr>
        </p:pic>
        <p:pic>
          <p:nvPicPr>
            <p:cNvPr id="41" name="Picture 40">
              <a:extLst>
                <a:ext uri="{FF2B5EF4-FFF2-40B4-BE49-F238E27FC236}">
                  <a16:creationId xmlns:a16="http://schemas.microsoft.com/office/drawing/2014/main" id="{FD319A5F-ED98-73CA-2921-0DAE6EEEE9D4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 flipH="1">
              <a:off x="5144014" y="3148085"/>
              <a:ext cx="564163" cy="1019717"/>
            </a:xfrm>
            <a:prstGeom prst="rect">
              <a:avLst/>
            </a:prstGeom>
          </p:spPr>
        </p:pic>
      </p:grpSp>
      <p:sp>
        <p:nvSpPr>
          <p:cNvPr id="2" name="Rectangle 1">
            <a:extLst>
              <a:ext uri="{FF2B5EF4-FFF2-40B4-BE49-F238E27FC236}">
                <a16:creationId xmlns:a16="http://schemas.microsoft.com/office/drawing/2014/main" id="{81C163C6-16AD-623D-9AD0-90F27C1C3AA0}"/>
              </a:ext>
            </a:extLst>
          </p:cNvPr>
          <p:cNvSpPr/>
          <p:nvPr/>
        </p:nvSpPr>
        <p:spPr>
          <a:xfrm>
            <a:off x="852957" y="3212822"/>
            <a:ext cx="2365960" cy="1879430"/>
          </a:xfrm>
          <a:prstGeom prst="rect">
            <a:avLst/>
          </a:prstGeom>
          <a:solidFill>
            <a:srgbClr val="808080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algn="ctr" defTabSz="914400" rtl="0" eaLnBrk="1" latinLnBrk="0" hangingPunct="1"/>
            <a:endParaRPr lang="en-US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F9EBD433-8375-ED8D-2AEB-98D1CD0CE2E7}"/>
              </a:ext>
            </a:extLst>
          </p:cNvPr>
          <p:cNvSpPr/>
          <p:nvPr/>
        </p:nvSpPr>
        <p:spPr>
          <a:xfrm>
            <a:off x="4390584" y="3840867"/>
            <a:ext cx="728021" cy="63094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sz="35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+</a:t>
            </a:r>
          </a:p>
        </p:txBody>
      </p:sp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F6B52632-4B53-6C66-956C-984E989AB6B9}"/>
              </a:ext>
            </a:extLst>
          </p:cNvPr>
          <p:cNvCxnSpPr>
            <a:cxnSpLocks/>
          </p:cNvCxnSpPr>
          <p:nvPr/>
        </p:nvCxnSpPr>
        <p:spPr>
          <a:xfrm>
            <a:off x="3218917" y="4142568"/>
            <a:ext cx="274320" cy="0"/>
          </a:xfrm>
          <a:prstGeom prst="straightConnector1">
            <a:avLst/>
          </a:prstGeom>
          <a:ln w="571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Rectangle 30">
            <a:extLst>
              <a:ext uri="{FF2B5EF4-FFF2-40B4-BE49-F238E27FC236}">
                <a16:creationId xmlns:a16="http://schemas.microsoft.com/office/drawing/2014/main" id="{6F812530-CD65-C465-7DC5-FCF0DF90A0EE}"/>
              </a:ext>
            </a:extLst>
          </p:cNvPr>
          <p:cNvSpPr/>
          <p:nvPr/>
        </p:nvSpPr>
        <p:spPr>
          <a:xfrm>
            <a:off x="1498433" y="3614437"/>
            <a:ext cx="1097280" cy="1097280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2" name="Picture 31">
            <a:extLst>
              <a:ext uri="{FF2B5EF4-FFF2-40B4-BE49-F238E27FC236}">
                <a16:creationId xmlns:a16="http://schemas.microsoft.com/office/drawing/2014/main" id="{6EE017F3-F63D-C93F-E454-B6A0F9313FD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589873" y="3703216"/>
            <a:ext cx="9144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0537959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01836649-3BFB-BC41-8DB9-D358D1B458BD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80808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algn="ctr" defTabSz="914400" rtl="0" eaLnBrk="1" latinLnBrk="0" hangingPunct="1"/>
            <a:endParaRPr lang="en-US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1FF0DAA0-A0FD-6A46-9490-CA00AB61643F}"/>
              </a:ext>
            </a:extLst>
          </p:cNvPr>
          <p:cNvSpPr/>
          <p:nvPr/>
        </p:nvSpPr>
        <p:spPr>
          <a:xfrm>
            <a:off x="650009" y="654162"/>
            <a:ext cx="11146420" cy="258532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Welcome to the experiment!</a:t>
            </a:r>
          </a:p>
          <a:p>
            <a:pPr algn="ctr"/>
            <a:endParaRPr lang="en-US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r>
              <a:rPr lang="en-US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In this experiment, we will show you pairs of images presented one after the other. </a:t>
            </a:r>
          </a:p>
          <a:p>
            <a:pPr algn="ctr"/>
            <a:endParaRPr lang="en-US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r>
              <a:rPr lang="en-US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When the black square appears on the screen, you will have 2 seconds to press the SPACE bar. </a:t>
            </a:r>
          </a:p>
          <a:p>
            <a:pPr algn="ctr"/>
            <a:r>
              <a:rPr lang="en-US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Then, two images will appear one after the other, with a “+” in between.</a:t>
            </a:r>
          </a:p>
          <a:p>
            <a:pPr algn="ctr"/>
            <a:endParaRPr lang="en-US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r>
              <a:rPr lang="en-US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When you see the prompt “MAKE A CHOICE”, you may enter either the “D” or “K” keys to make a decision.</a:t>
            </a:r>
          </a:p>
          <a:p>
            <a:pPr algn="ctr"/>
            <a:r>
              <a:rPr lang="en-US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You will learn how to choose “D” vs. “K” correctly on your own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D6BC7CDD-2F5E-418F-3623-EDEC485CE32A}"/>
              </a:ext>
            </a:extLst>
          </p:cNvPr>
          <p:cNvSpPr/>
          <p:nvPr/>
        </p:nvSpPr>
        <p:spPr>
          <a:xfrm>
            <a:off x="258150" y="3863972"/>
            <a:ext cx="2100076" cy="1581874"/>
          </a:xfrm>
          <a:prstGeom prst="rect">
            <a:avLst/>
          </a:prstGeom>
          <a:solidFill>
            <a:srgbClr val="808080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algn="ctr" defTabSz="914400" rtl="0" eaLnBrk="1" latinLnBrk="0" hangingPunct="1"/>
            <a:endParaRPr lang="en-US"/>
          </a:p>
        </p:txBody>
      </p: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39B820EC-BDAB-F66F-68FF-75353C84C850}"/>
              </a:ext>
            </a:extLst>
          </p:cNvPr>
          <p:cNvCxnSpPr>
            <a:cxnSpLocks/>
          </p:cNvCxnSpPr>
          <p:nvPr/>
        </p:nvCxnSpPr>
        <p:spPr>
          <a:xfrm>
            <a:off x="2358226" y="4646518"/>
            <a:ext cx="243492" cy="0"/>
          </a:xfrm>
          <a:prstGeom prst="straightConnector1">
            <a:avLst/>
          </a:prstGeom>
          <a:ln w="571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Rectangle 19">
            <a:extLst>
              <a:ext uri="{FF2B5EF4-FFF2-40B4-BE49-F238E27FC236}">
                <a16:creationId xmlns:a16="http://schemas.microsoft.com/office/drawing/2014/main" id="{74C2F54D-CF6F-7195-618F-DF3D0BDBF796}"/>
              </a:ext>
            </a:extLst>
          </p:cNvPr>
          <p:cNvSpPr/>
          <p:nvPr/>
        </p:nvSpPr>
        <p:spPr>
          <a:xfrm>
            <a:off x="1007289" y="4361992"/>
            <a:ext cx="647918" cy="615704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1" name="Picture 20">
            <a:extLst>
              <a:ext uri="{FF2B5EF4-FFF2-40B4-BE49-F238E27FC236}">
                <a16:creationId xmlns:a16="http://schemas.microsoft.com/office/drawing/2014/main" id="{E06DEE3C-D616-AC06-CA7F-47758755C72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3457" y="5475511"/>
            <a:ext cx="1675203" cy="794247"/>
          </a:xfrm>
          <a:prstGeom prst="rect">
            <a:avLst/>
          </a:prstGeom>
        </p:spPr>
      </p:pic>
      <p:pic>
        <p:nvPicPr>
          <p:cNvPr id="22" name="Picture 21">
            <a:extLst>
              <a:ext uri="{FF2B5EF4-FFF2-40B4-BE49-F238E27FC236}">
                <a16:creationId xmlns:a16="http://schemas.microsoft.com/office/drawing/2014/main" id="{295C4272-B8D9-8823-4951-7C33791DA8A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11972" y="6110187"/>
            <a:ext cx="285072" cy="488594"/>
          </a:xfrm>
          <a:prstGeom prst="rect">
            <a:avLst/>
          </a:prstGeom>
        </p:spPr>
      </p:pic>
      <p:sp>
        <p:nvSpPr>
          <p:cNvPr id="23" name="Rectangle 22">
            <a:extLst>
              <a:ext uri="{FF2B5EF4-FFF2-40B4-BE49-F238E27FC236}">
                <a16:creationId xmlns:a16="http://schemas.microsoft.com/office/drawing/2014/main" id="{662AE73E-9D9C-F2ED-978A-06875F0F33EB}"/>
              </a:ext>
            </a:extLst>
          </p:cNvPr>
          <p:cNvSpPr/>
          <p:nvPr/>
        </p:nvSpPr>
        <p:spPr>
          <a:xfrm>
            <a:off x="5099759" y="3855581"/>
            <a:ext cx="2100076" cy="1581874"/>
          </a:xfrm>
          <a:prstGeom prst="rect">
            <a:avLst/>
          </a:prstGeom>
          <a:solidFill>
            <a:srgbClr val="808080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algn="ctr" defTabSz="914400" rtl="0" eaLnBrk="1" latinLnBrk="0" hangingPunct="1"/>
            <a:endParaRPr lang="en-US"/>
          </a:p>
        </p:txBody>
      </p: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2BE4F1C0-5A4F-FC60-B1EB-90355FB81532}"/>
              </a:ext>
            </a:extLst>
          </p:cNvPr>
          <p:cNvCxnSpPr>
            <a:cxnSpLocks/>
          </p:cNvCxnSpPr>
          <p:nvPr/>
        </p:nvCxnSpPr>
        <p:spPr>
          <a:xfrm>
            <a:off x="7214453" y="4638127"/>
            <a:ext cx="243492" cy="0"/>
          </a:xfrm>
          <a:prstGeom prst="straightConnector1">
            <a:avLst/>
          </a:prstGeom>
          <a:ln w="571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Rectangle 24">
            <a:extLst>
              <a:ext uri="{FF2B5EF4-FFF2-40B4-BE49-F238E27FC236}">
                <a16:creationId xmlns:a16="http://schemas.microsoft.com/office/drawing/2014/main" id="{A98FBF6F-E976-2D9E-C48D-3A95780DBCAA}"/>
              </a:ext>
            </a:extLst>
          </p:cNvPr>
          <p:cNvSpPr/>
          <p:nvPr/>
        </p:nvSpPr>
        <p:spPr>
          <a:xfrm>
            <a:off x="7472564" y="3855581"/>
            <a:ext cx="2100076" cy="1581874"/>
          </a:xfrm>
          <a:prstGeom prst="rect">
            <a:avLst/>
          </a:prstGeom>
          <a:solidFill>
            <a:srgbClr val="808080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algn="ctr" defTabSz="914400" rtl="0" eaLnBrk="1" latinLnBrk="0" hangingPunct="1"/>
            <a:endParaRPr lang="en-US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142C9CBE-7A91-C3FB-9282-18CD2E12A34A}"/>
              </a:ext>
            </a:extLst>
          </p:cNvPr>
          <p:cNvSpPr/>
          <p:nvPr/>
        </p:nvSpPr>
        <p:spPr>
          <a:xfrm>
            <a:off x="8051488" y="4191372"/>
            <a:ext cx="973969" cy="923556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7" name="Picture 26">
            <a:extLst>
              <a:ext uri="{FF2B5EF4-FFF2-40B4-BE49-F238E27FC236}">
                <a16:creationId xmlns:a16="http://schemas.microsoft.com/office/drawing/2014/main" id="{BD10C554-5602-2E22-C812-0FAB5B7E6FE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136531" y="4268335"/>
            <a:ext cx="811641" cy="769630"/>
          </a:xfrm>
          <a:prstGeom prst="rect">
            <a:avLst/>
          </a:prstGeom>
        </p:spPr>
      </p:pic>
      <p:cxnSp>
        <p:nvCxnSpPr>
          <p:cNvPr id="37" name="Straight Arrow Connector 36">
            <a:extLst>
              <a:ext uri="{FF2B5EF4-FFF2-40B4-BE49-F238E27FC236}">
                <a16:creationId xmlns:a16="http://schemas.microsoft.com/office/drawing/2014/main" id="{F6E180E5-645F-D0B3-8412-B76A0DA911C5}"/>
              </a:ext>
            </a:extLst>
          </p:cNvPr>
          <p:cNvCxnSpPr>
            <a:cxnSpLocks/>
          </p:cNvCxnSpPr>
          <p:nvPr/>
        </p:nvCxnSpPr>
        <p:spPr>
          <a:xfrm>
            <a:off x="9575663" y="4638127"/>
            <a:ext cx="243492" cy="0"/>
          </a:xfrm>
          <a:prstGeom prst="straightConnector1">
            <a:avLst/>
          </a:prstGeom>
          <a:ln w="571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3" name="Rectangle 42">
            <a:extLst>
              <a:ext uri="{FF2B5EF4-FFF2-40B4-BE49-F238E27FC236}">
                <a16:creationId xmlns:a16="http://schemas.microsoft.com/office/drawing/2014/main" id="{7612208A-E068-2CE4-2061-001E78C4219B}"/>
              </a:ext>
            </a:extLst>
          </p:cNvPr>
          <p:cNvSpPr/>
          <p:nvPr/>
        </p:nvSpPr>
        <p:spPr>
          <a:xfrm>
            <a:off x="9833774" y="3855581"/>
            <a:ext cx="2100076" cy="1581874"/>
          </a:xfrm>
          <a:prstGeom prst="rect">
            <a:avLst/>
          </a:prstGeom>
          <a:solidFill>
            <a:srgbClr val="808080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algn="ctr" defTabSz="914400" rtl="0" eaLnBrk="1" latinLnBrk="0" hangingPunct="1"/>
            <a:endParaRPr lang="en-US"/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3EE0B3B4-1A01-8E49-7941-DC9095B5FB83}"/>
              </a:ext>
            </a:extLst>
          </p:cNvPr>
          <p:cNvSpPr/>
          <p:nvPr/>
        </p:nvSpPr>
        <p:spPr>
          <a:xfrm>
            <a:off x="10080289" y="4506154"/>
            <a:ext cx="1641123" cy="27699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sz="12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MAKE A CHOICE</a:t>
            </a:r>
          </a:p>
        </p:txBody>
      </p:sp>
      <p:grpSp>
        <p:nvGrpSpPr>
          <p:cNvPr id="45" name="Group 44">
            <a:extLst>
              <a:ext uri="{FF2B5EF4-FFF2-40B4-BE49-F238E27FC236}">
                <a16:creationId xmlns:a16="http://schemas.microsoft.com/office/drawing/2014/main" id="{89D72E98-659A-8D10-7F13-9F6061C4745E}"/>
              </a:ext>
            </a:extLst>
          </p:cNvPr>
          <p:cNvGrpSpPr>
            <a:grpSpLocks noChangeAspect="1"/>
          </p:cNvGrpSpPr>
          <p:nvPr/>
        </p:nvGrpSpPr>
        <p:grpSpPr>
          <a:xfrm>
            <a:off x="10046209" y="5453268"/>
            <a:ext cx="1675203" cy="923556"/>
            <a:chOff x="4543496" y="2244478"/>
            <a:chExt cx="3308070" cy="1923324"/>
          </a:xfrm>
        </p:grpSpPr>
        <p:pic>
          <p:nvPicPr>
            <p:cNvPr id="46" name="Picture 45">
              <a:extLst>
                <a:ext uri="{FF2B5EF4-FFF2-40B4-BE49-F238E27FC236}">
                  <a16:creationId xmlns:a16="http://schemas.microsoft.com/office/drawing/2014/main" id="{CD8B53A8-C6E1-4915-867F-B365E38DD1C7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4543496" y="2244478"/>
              <a:ext cx="3308070" cy="1654035"/>
            </a:xfrm>
            <a:prstGeom prst="rect">
              <a:avLst/>
            </a:prstGeom>
          </p:spPr>
        </p:pic>
        <p:pic>
          <p:nvPicPr>
            <p:cNvPr id="47" name="Picture 46">
              <a:extLst>
                <a:ext uri="{FF2B5EF4-FFF2-40B4-BE49-F238E27FC236}">
                  <a16:creationId xmlns:a16="http://schemas.microsoft.com/office/drawing/2014/main" id="{81B0D633-AA76-3C93-5E66-B1514B586831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6229508" y="3126098"/>
              <a:ext cx="562940" cy="1017506"/>
            </a:xfrm>
            <a:prstGeom prst="rect">
              <a:avLst/>
            </a:prstGeom>
          </p:spPr>
        </p:pic>
        <p:pic>
          <p:nvPicPr>
            <p:cNvPr id="48" name="Picture 47">
              <a:extLst>
                <a:ext uri="{FF2B5EF4-FFF2-40B4-BE49-F238E27FC236}">
                  <a16:creationId xmlns:a16="http://schemas.microsoft.com/office/drawing/2014/main" id="{FCE68632-9979-D462-A8E4-525CEAECA7BC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 flipH="1">
              <a:off x="5144014" y="3148085"/>
              <a:ext cx="564163" cy="1019717"/>
            </a:xfrm>
            <a:prstGeom prst="rect">
              <a:avLst/>
            </a:prstGeom>
          </p:spPr>
        </p:pic>
      </p:grpSp>
      <p:sp>
        <p:nvSpPr>
          <p:cNvPr id="49" name="Rectangle 48">
            <a:extLst>
              <a:ext uri="{FF2B5EF4-FFF2-40B4-BE49-F238E27FC236}">
                <a16:creationId xmlns:a16="http://schemas.microsoft.com/office/drawing/2014/main" id="{DAD5961E-C76D-17EF-6693-887A940546B4}"/>
              </a:ext>
            </a:extLst>
          </p:cNvPr>
          <p:cNvSpPr/>
          <p:nvPr/>
        </p:nvSpPr>
        <p:spPr>
          <a:xfrm>
            <a:off x="2704985" y="3855581"/>
            <a:ext cx="2100076" cy="1581874"/>
          </a:xfrm>
          <a:prstGeom prst="rect">
            <a:avLst/>
          </a:prstGeom>
          <a:solidFill>
            <a:srgbClr val="808080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algn="ctr" defTabSz="914400" rtl="0" eaLnBrk="1" latinLnBrk="0" hangingPunct="1"/>
            <a:endParaRPr lang="en-US"/>
          </a:p>
        </p:txBody>
      </p:sp>
      <p:sp>
        <p:nvSpPr>
          <p:cNvPr id="50" name="Rectangle 49">
            <a:extLst>
              <a:ext uri="{FF2B5EF4-FFF2-40B4-BE49-F238E27FC236}">
                <a16:creationId xmlns:a16="http://schemas.microsoft.com/office/drawing/2014/main" id="{6E14D98C-5B87-D00D-95DA-444DC9C776DB}"/>
              </a:ext>
            </a:extLst>
          </p:cNvPr>
          <p:cNvSpPr/>
          <p:nvPr/>
        </p:nvSpPr>
        <p:spPr>
          <a:xfrm>
            <a:off x="5845058" y="4384192"/>
            <a:ext cx="646207" cy="53105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sz="35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+</a:t>
            </a:r>
          </a:p>
        </p:txBody>
      </p:sp>
      <p:cxnSp>
        <p:nvCxnSpPr>
          <p:cNvPr id="51" name="Straight Arrow Connector 50">
            <a:extLst>
              <a:ext uri="{FF2B5EF4-FFF2-40B4-BE49-F238E27FC236}">
                <a16:creationId xmlns:a16="http://schemas.microsoft.com/office/drawing/2014/main" id="{B4B277D4-1E26-A713-CF05-32C8AF49C63E}"/>
              </a:ext>
            </a:extLst>
          </p:cNvPr>
          <p:cNvCxnSpPr>
            <a:cxnSpLocks/>
          </p:cNvCxnSpPr>
          <p:nvPr/>
        </p:nvCxnSpPr>
        <p:spPr>
          <a:xfrm>
            <a:off x="4805061" y="4638127"/>
            <a:ext cx="243492" cy="0"/>
          </a:xfrm>
          <a:prstGeom prst="straightConnector1">
            <a:avLst/>
          </a:prstGeom>
          <a:ln w="571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2" name="Rectangle 51">
            <a:extLst>
              <a:ext uri="{FF2B5EF4-FFF2-40B4-BE49-F238E27FC236}">
                <a16:creationId xmlns:a16="http://schemas.microsoft.com/office/drawing/2014/main" id="{310C6EE5-5718-3C3F-03DC-83110F07FE7F}"/>
              </a:ext>
            </a:extLst>
          </p:cNvPr>
          <p:cNvSpPr/>
          <p:nvPr/>
        </p:nvSpPr>
        <p:spPr>
          <a:xfrm>
            <a:off x="3277923" y="4193611"/>
            <a:ext cx="973969" cy="923556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3" name="Picture 52">
            <a:extLst>
              <a:ext uri="{FF2B5EF4-FFF2-40B4-BE49-F238E27FC236}">
                <a16:creationId xmlns:a16="http://schemas.microsoft.com/office/drawing/2014/main" id="{B6349D55-BA9A-2310-8CD9-96F2B107CB25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359087" y="4268335"/>
            <a:ext cx="811641" cy="7696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6308070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01836649-3BFB-BC41-8DB9-D358D1B458BD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80808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algn="ctr" defTabSz="914400" rtl="0" eaLnBrk="1" latinLnBrk="0" hangingPunct="1"/>
            <a:endParaRPr lang="en-US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1FF0DAA0-A0FD-6A46-9490-CA00AB61643F}"/>
              </a:ext>
            </a:extLst>
          </p:cNvPr>
          <p:cNvSpPr/>
          <p:nvPr/>
        </p:nvSpPr>
        <p:spPr>
          <a:xfrm>
            <a:off x="716198" y="717214"/>
            <a:ext cx="10308853" cy="6463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If you are correct you will see a green mark, if you are incorrect you will see a red cross (see below).</a:t>
            </a:r>
          </a:p>
          <a:p>
            <a:pPr algn="ctr"/>
            <a:endParaRPr lang="en-US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3443B4A7-68BB-43E2-9347-5989CDB22A48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14397" r="12612"/>
          <a:stretch/>
        </p:blipFill>
        <p:spPr>
          <a:xfrm>
            <a:off x="3303380" y="1781977"/>
            <a:ext cx="2444278" cy="1883664"/>
          </a:xfrm>
          <a:prstGeom prst="rect">
            <a:avLst/>
          </a:prstGeom>
          <a:ln w="28575">
            <a:solidFill>
              <a:schemeClr val="tx1"/>
            </a:solidFill>
          </a:ln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27B7EFBA-472A-A921-86E9-2A3306347441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l="13058" r="13950"/>
          <a:stretch/>
        </p:blipFill>
        <p:spPr>
          <a:xfrm>
            <a:off x="6096000" y="1759061"/>
            <a:ext cx="2444278" cy="1883664"/>
          </a:xfrm>
          <a:prstGeom prst="rect">
            <a:avLst/>
          </a:prstGeom>
          <a:ln w="28575">
            <a:solidFill>
              <a:schemeClr val="tx1"/>
            </a:solidFill>
          </a:ln>
        </p:spPr>
      </p:pic>
      <p:sp>
        <p:nvSpPr>
          <p:cNvPr id="13" name="Rectangle 12">
            <a:extLst>
              <a:ext uri="{FF2B5EF4-FFF2-40B4-BE49-F238E27FC236}">
                <a16:creationId xmlns:a16="http://schemas.microsoft.com/office/drawing/2014/main" id="{FF4E2701-90D0-8EBF-BB37-CAADF85D0F82}"/>
              </a:ext>
            </a:extLst>
          </p:cNvPr>
          <p:cNvSpPr/>
          <p:nvPr/>
        </p:nvSpPr>
        <p:spPr>
          <a:xfrm>
            <a:off x="522790" y="4070357"/>
            <a:ext cx="11146420" cy="175432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You can earn bonus money (up to $10) the more you choose the Correct answer.</a:t>
            </a:r>
          </a:p>
          <a:p>
            <a:pPr algn="ctr"/>
            <a:endParaRPr lang="en-US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r>
              <a:rPr lang="en-US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You will have up to 3 seconds to make your decision.</a:t>
            </a:r>
          </a:p>
          <a:p>
            <a:pPr algn="ctr"/>
            <a:endParaRPr lang="en-US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r>
              <a:rPr lang="en-US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If you are too slow to respond, you will see “TOO SLOW” on the screen, </a:t>
            </a:r>
          </a:p>
          <a:p>
            <a:pPr algn="ctr"/>
            <a:r>
              <a:rPr lang="en-US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your answer will be considered Incorrect and you will not earn bonus money for that decision.  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DB938466-D0C1-1E66-294B-53BD28A2D9F7}"/>
              </a:ext>
            </a:extLst>
          </p:cNvPr>
          <p:cNvSpPr/>
          <p:nvPr/>
        </p:nvSpPr>
        <p:spPr>
          <a:xfrm>
            <a:off x="3303379" y="1377261"/>
            <a:ext cx="2444279" cy="6463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Correct</a:t>
            </a:r>
          </a:p>
          <a:p>
            <a:pPr algn="ctr"/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FD05AF02-1E11-A6B3-D788-D3F61E351C56}"/>
              </a:ext>
            </a:extLst>
          </p:cNvPr>
          <p:cNvSpPr/>
          <p:nvPr/>
        </p:nvSpPr>
        <p:spPr>
          <a:xfrm>
            <a:off x="6096000" y="1377261"/>
            <a:ext cx="2444277" cy="6463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Incorrect</a:t>
            </a:r>
          </a:p>
          <a:p>
            <a:pPr algn="ctr"/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2106844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01836649-3BFB-BC41-8DB9-D358D1B458BD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80808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algn="ctr" defTabSz="914400" rtl="0" eaLnBrk="1" latinLnBrk="0" hangingPunct="1"/>
            <a:endParaRPr lang="en-US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50AAA599-E202-233D-CEBF-2A4936DD41F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78202" y="1952368"/>
            <a:ext cx="2885993" cy="27373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1144366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01836649-3BFB-BC41-8DB9-D358D1B458BD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80808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algn="ctr" defTabSz="914400" rtl="0" eaLnBrk="1" latinLnBrk="0" hangingPunct="1"/>
            <a:endParaRPr lang="en-US" dirty="0"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E0DF0AC2-3597-2ECC-9B56-1D9EFBED2BB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16995" y="2284317"/>
            <a:ext cx="2158009" cy="22893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062663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01836649-3BFB-BC41-8DB9-D358D1B458BD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80808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algn="ctr" defTabSz="914400" rtl="0" eaLnBrk="1" latinLnBrk="0" hangingPunct="1"/>
            <a:endParaRPr lang="en-US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003FFE66-834B-F04E-8725-B3E647606348}"/>
              </a:ext>
            </a:extLst>
          </p:cNvPr>
          <p:cNvSpPr/>
          <p:nvPr/>
        </p:nvSpPr>
        <p:spPr>
          <a:xfrm>
            <a:off x="4998720" y="2242751"/>
            <a:ext cx="2194560" cy="2193325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605010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43466</TotalTime>
  <Words>372</Words>
  <Application>Microsoft Macintosh PowerPoint</Application>
  <PresentationFormat>Widescreen</PresentationFormat>
  <Paragraphs>44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1" baseType="lpstr">
      <vt:lpstr>Arial</vt:lpstr>
      <vt:lpstr>Calibri</vt:lpstr>
      <vt:lpstr>Calibri Light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Natalie Biderman</dc:creator>
  <cp:lastModifiedBy>Microsoft Office User</cp:lastModifiedBy>
  <cp:revision>170</cp:revision>
  <dcterms:created xsi:type="dcterms:W3CDTF">2019-02-21T20:26:27Z</dcterms:created>
  <dcterms:modified xsi:type="dcterms:W3CDTF">2022-07-16T22:38:15Z</dcterms:modified>
</cp:coreProperties>
</file>